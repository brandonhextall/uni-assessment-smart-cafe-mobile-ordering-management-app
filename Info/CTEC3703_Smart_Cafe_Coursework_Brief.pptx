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library.dmu.ac.uk/genai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0"/>
            <a:ext cx="3639312" cy="6858000"/>
          </a:xfrm>
          <a:prstGeom prst="rect">
            <a:avLst/>
          </a:prstGeom>
          <a:solidFill>
            <a:srgbClr val="173452"/>
          </a:solidFill>
          <a:ln w="12700">
            <a:solidFill>
              <a:srgbClr val="17345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685800"/>
            <a:ext cx="2468880" cy="2468880"/>
          </a:xfrm>
          <a:prstGeom prst="roundRect">
            <a:avLst>
              <a:gd name="adj" fmla="val 9630"/>
            </a:avLst>
          </a:prstGeom>
          <a:solidFill>
            <a:srgbClr val="25D4C4"/>
          </a:solidFill>
          <a:ln w="12700">
            <a:solidFill>
              <a:srgbClr val="25D4C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93808" y="1024128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dirty="0">
                <a:solidFill>
                  <a:srgbClr val="16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☕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8915400" y="3904488"/>
            <a:ext cx="2880360" cy="1243584"/>
          </a:xfrm>
          <a:prstGeom prst="roundRect">
            <a:avLst>
              <a:gd name="adj" fmla="val 17647"/>
            </a:avLst>
          </a:prstGeom>
          <a:solidFill>
            <a:srgbClr val="244363"/>
          </a:solidFill>
          <a:ln w="12700">
            <a:solidFill>
              <a:srgbClr val="24436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0" y="4187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KOTLIN  •  ANDROID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731520"/>
            <a:ext cx="3959352" cy="374904"/>
          </a:xfrm>
          <a:prstGeom prst="roundRect">
            <a:avLst>
              <a:gd name="adj" fmla="val 43902"/>
            </a:avLst>
          </a:prstGeom>
          <a:solidFill>
            <a:srgbClr val="233855"/>
          </a:solidFill>
          <a:ln w="12700">
            <a:solidFill>
              <a:srgbClr val="23385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809244"/>
            <a:ext cx="3730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5D4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COURSEWORK  •  50%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6656" y="18745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CAFÉ</a:t>
            </a:r>
            <a:endParaRPr lang="en-US" sz="5100" dirty="0"/>
          </a:p>
        </p:txBody>
      </p:sp>
      <p:sp>
        <p:nvSpPr>
          <p:cNvPr id="10" name="Text 8"/>
          <p:cNvSpPr/>
          <p:nvPr/>
        </p:nvSpPr>
        <p:spPr>
          <a:xfrm>
            <a:off x="713232" y="29718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D5E4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ordering &amp; management app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13232" y="393192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5D4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clients. Real change. Real software engineering.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13232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7C8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CTEC3703   |   Demonstration &amp; submission: 16 November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5661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A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THE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more than an app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36776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project simulates the work of a graduate software engineer.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" cy="914400"/>
          </a:xfrm>
          <a:prstGeom prst="line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640080" y="6583680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CTEC3703  •  SMART CAFÉ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9960" y="6565392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58368" y="2359152"/>
            <a:ext cx="3429000" cy="3383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359152"/>
            <a:ext cx="68580" cy="3383280"/>
          </a:xfrm>
          <a:prstGeom prst="rect">
            <a:avLst/>
          </a:prstGeom>
          <a:solidFill>
            <a:srgbClr val="15A89D"/>
          </a:solidFill>
          <a:ln w="12700">
            <a:solidFill>
              <a:srgbClr val="15A89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2569464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05256" y="3136392"/>
            <a:ext cx="2935224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Design, implement and test a usable café application with database-backed workflows.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70832" y="2359152"/>
            <a:ext cx="3429000" cy="3383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0832" y="2359152"/>
            <a:ext cx="68580" cy="338328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569464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17720" y="3136392"/>
            <a:ext cx="2935224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a meaningful API, AI/ML capability, analytics feature or external service.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83296" y="2359152"/>
            <a:ext cx="3429000" cy="3383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83296" y="2359152"/>
            <a:ext cx="68580" cy="3383280"/>
          </a:xfrm>
          <a:prstGeom prst="rect">
            <a:avLst/>
          </a:prstGeom>
          <a:solidFill>
            <a:srgbClr val="FFB86B"/>
          </a:solidFill>
          <a:ln w="12700">
            <a:solidFill>
              <a:srgbClr val="FFB86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0184" y="2569464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30184" y="3136392"/>
            <a:ext cx="2935224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 progress, respond to feedback and maintain professional development evidence.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5661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A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CHOOSE YOUR PATHWAY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ways to complete the project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36776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learning outcomes and marking criteria are the same for everyone.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" cy="914400"/>
          </a:xfrm>
          <a:prstGeom prst="line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640080" y="6583680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CTEC3703  •  SMART CAFÉ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9960" y="6565392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3232" y="2258568"/>
            <a:ext cx="5212080" cy="34747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258568"/>
            <a:ext cx="68580" cy="3474720"/>
          </a:xfrm>
          <a:prstGeom prst="rect">
            <a:avLst/>
          </a:prstGeom>
          <a:solidFill>
            <a:srgbClr val="25D4C4"/>
          </a:solidFill>
          <a:ln w="12700">
            <a:solidFill>
              <a:srgbClr val="25D4C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68880"/>
            <a:ext cx="4718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  |  Choose one role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0120" y="3035808"/>
            <a:ext cx="4718304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Fully build Customer OR Admin. Simulate the essential counterpart functions to demonstrate a complete workflow.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one meaningful advanced integration.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2258568"/>
            <a:ext cx="5212080" cy="34747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2258568"/>
            <a:ext cx="68580" cy="3474720"/>
          </a:xfrm>
          <a:prstGeom prst="rect">
            <a:avLst/>
          </a:prstGeom>
          <a:solidFill>
            <a:srgbClr val="FFB86B"/>
          </a:solidFill>
          <a:ln w="12700">
            <a:solidFill>
              <a:srgbClr val="FFB86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2468880"/>
            <a:ext cx="4718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  |  Build both roles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10528" y="3035808"/>
            <a:ext cx="4718304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 an integrated Customer + Admin solution. Make each person’s technical contribution identifiable.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students face an individual demonstration.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89120" y="5943600"/>
            <a:ext cx="3383280" cy="374904"/>
          </a:xfrm>
          <a:prstGeom prst="roundRect">
            <a:avLst>
              <a:gd name="adj" fmla="val 43902"/>
            </a:avLst>
          </a:prstGeom>
          <a:solidFill>
            <a:srgbClr val="E8EEF8"/>
          </a:solidFill>
          <a:ln w="12700">
            <a:solidFill>
              <a:srgbClr val="E8EEF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07992" y="602132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standards  •  Individual marks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5661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A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CUSTOMER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role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36776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complete order journey from discovery to collection.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" cy="914400"/>
          </a:xfrm>
          <a:prstGeom prst="line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640080" y="6583680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CTEC3703  •  SMART CAFÉ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9960" y="6565392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2221992"/>
            <a:ext cx="5212080" cy="373075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221992"/>
            <a:ext cx="68580" cy="3730752"/>
          </a:xfrm>
          <a:prstGeom prst="rect">
            <a:avLst/>
          </a:prstGeom>
          <a:solidFill>
            <a:srgbClr val="15A89D"/>
          </a:solidFill>
          <a:ln w="12700">
            <a:solidFill>
              <a:srgbClr val="15A89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2432304"/>
            <a:ext cx="4718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→ ORDER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78408" y="2999232"/>
            <a:ext cx="471830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27064" y="2221992"/>
            <a:ext cx="5212080" cy="373075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27064" y="2221992"/>
            <a:ext cx="68580" cy="373075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2432304"/>
            <a:ext cx="4718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→ REVIEW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73952" y="2999232"/>
            <a:ext cx="471830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24128" y="3163824"/>
            <a:ext cx="96012" cy="96012"/>
          </a:xfrm>
          <a:prstGeom prst="roundRect">
            <a:avLst>
              <a:gd name="adj" fmla="val 47619"/>
            </a:avLst>
          </a:prstGeom>
          <a:solidFill>
            <a:srgbClr val="15A89D"/>
          </a:solidFill>
          <a:ln w="12700">
            <a:solidFill>
              <a:srgbClr val="15A89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52728" y="3072384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registration &amp; login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24128" y="3749040"/>
            <a:ext cx="96012" cy="96012"/>
          </a:xfrm>
          <a:prstGeom prst="roundRect">
            <a:avLst>
              <a:gd name="adj" fmla="val 47619"/>
            </a:avLst>
          </a:prstGeom>
          <a:solidFill>
            <a:srgbClr val="15A89D"/>
          </a:solidFill>
          <a:ln w="12700">
            <a:solidFill>
              <a:srgbClr val="15A89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52728" y="3657600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Browse, search and filter menu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24128" y="4334256"/>
            <a:ext cx="96012" cy="96012"/>
          </a:xfrm>
          <a:prstGeom prst="roundRect">
            <a:avLst>
              <a:gd name="adj" fmla="val 47619"/>
            </a:avLst>
          </a:prstGeom>
          <a:solidFill>
            <a:srgbClr val="15A89D"/>
          </a:solidFill>
          <a:ln w="12700">
            <a:solidFill>
              <a:srgbClr val="15A89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52728" y="4242816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Cart: add, amend and remove items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24128" y="4919472"/>
            <a:ext cx="96012" cy="96012"/>
          </a:xfrm>
          <a:prstGeom prst="roundRect">
            <a:avLst>
              <a:gd name="adj" fmla="val 47619"/>
            </a:avLst>
          </a:prstGeom>
          <a:solidFill>
            <a:srgbClr val="15A89D"/>
          </a:solidFill>
          <a:ln w="12700">
            <a:solidFill>
              <a:srgbClr val="15A89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52728" y="4828032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 orders + confirmation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19672" y="3163824"/>
            <a:ext cx="96012" cy="96012"/>
          </a:xfrm>
          <a:prstGeom prst="roundRect">
            <a:avLst>
              <a:gd name="adj" fmla="val 47619"/>
            </a:avLst>
          </a:prstGeom>
          <a:solidFill>
            <a:srgbClr val="4285F4"/>
          </a:solidFill>
          <a:ln w="12700">
            <a:solidFill>
              <a:srgbClr val="4285F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48272" y="3072384"/>
            <a:ext cx="4315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order history &amp; current status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19672" y="3749040"/>
            <a:ext cx="96012" cy="96012"/>
          </a:xfrm>
          <a:prstGeom prst="roundRect">
            <a:avLst>
              <a:gd name="adj" fmla="val 47619"/>
            </a:avLst>
          </a:prstGeom>
          <a:solidFill>
            <a:srgbClr val="4285F4"/>
          </a:solidFill>
          <a:ln w="12700">
            <a:solidFill>
              <a:srgbClr val="4285F4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48272" y="3657600"/>
            <a:ext cx="4315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feedback and ratings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519672" y="4334256"/>
            <a:ext cx="96012" cy="96012"/>
          </a:xfrm>
          <a:prstGeom prst="roundRect">
            <a:avLst>
              <a:gd name="adj" fmla="val 47619"/>
            </a:avLst>
          </a:prstGeom>
          <a:solidFill>
            <a:srgbClr val="4285F4"/>
          </a:solidFill>
          <a:ln w="12700">
            <a:solidFill>
              <a:srgbClr val="4285F4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48272" y="4242816"/>
            <a:ext cx="4315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 order status notifications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519672" y="4919472"/>
            <a:ext cx="96012" cy="96012"/>
          </a:xfrm>
          <a:prstGeom prst="roundRect">
            <a:avLst>
              <a:gd name="adj" fmla="val 47619"/>
            </a:avLst>
          </a:prstGeom>
          <a:solidFill>
            <a:srgbClr val="4285F4"/>
          </a:solidFill>
          <a:ln w="12700">
            <a:solidFill>
              <a:srgbClr val="4285F4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48272" y="4828032"/>
            <a:ext cx="4315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 a genuine end-to-end flow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5661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A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ADMIN OPERATIONS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role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36776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control plus useful analytics.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" cy="914400"/>
          </a:xfrm>
          <a:prstGeom prst="line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640080" y="6583680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CTEC3703  •  SMART CAFÉ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9960" y="6565392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94944" y="2194560"/>
            <a:ext cx="5294376" cy="37490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2194560"/>
            <a:ext cx="68580" cy="3749040"/>
          </a:xfrm>
          <a:prstGeom prst="rect">
            <a:avLst/>
          </a:prstGeom>
          <a:solidFill>
            <a:srgbClr val="FFB86B"/>
          </a:solidFill>
          <a:ln w="12700">
            <a:solidFill>
              <a:srgbClr val="FFB86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40487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41832" y="2971800"/>
            <a:ext cx="480060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2194560"/>
            <a:ext cx="5294376" cy="37490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2194560"/>
            <a:ext cx="68580" cy="3749040"/>
          </a:xfrm>
          <a:prstGeom prst="rect">
            <a:avLst/>
          </a:prstGeom>
          <a:solidFill>
            <a:srgbClr val="25D4C4"/>
          </a:solidFill>
          <a:ln w="12700">
            <a:solidFill>
              <a:srgbClr val="25D4C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240487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64808" y="2971800"/>
            <a:ext cx="480060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14984" y="3145536"/>
            <a:ext cx="96012" cy="96012"/>
          </a:xfrm>
          <a:prstGeom prst="roundRect">
            <a:avLst>
              <a:gd name="adj" fmla="val 47619"/>
            </a:avLst>
          </a:prstGeom>
          <a:solidFill>
            <a:srgbClr val="FFB86B"/>
          </a:solidFill>
          <a:ln w="12700">
            <a:solidFill>
              <a:srgbClr val="FFB86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3584" y="3054096"/>
            <a:ext cx="4361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admin access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1014984" y="3749040"/>
            <a:ext cx="96012" cy="96012"/>
          </a:xfrm>
          <a:prstGeom prst="roundRect">
            <a:avLst>
              <a:gd name="adj" fmla="val 47619"/>
            </a:avLst>
          </a:prstGeom>
          <a:solidFill>
            <a:srgbClr val="FFB86B"/>
          </a:solidFill>
          <a:ln w="12700">
            <a:solidFill>
              <a:srgbClr val="FFB86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43584" y="3657600"/>
            <a:ext cx="4361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Create, edit and delete menu items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1014984" y="4352544"/>
            <a:ext cx="96012" cy="96012"/>
          </a:xfrm>
          <a:prstGeom prst="roundRect">
            <a:avLst>
              <a:gd name="adj" fmla="val 47619"/>
            </a:avLst>
          </a:prstGeom>
          <a:solidFill>
            <a:srgbClr val="FFB86B"/>
          </a:solidFill>
          <a:ln w="12700">
            <a:solidFill>
              <a:srgbClr val="FFB86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43584" y="4261104"/>
            <a:ext cx="4361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price and availability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1014984" y="4956048"/>
            <a:ext cx="96012" cy="96012"/>
          </a:xfrm>
          <a:prstGeom prst="roundRect">
            <a:avLst>
              <a:gd name="adj" fmla="val 47619"/>
            </a:avLst>
          </a:prstGeom>
          <a:solidFill>
            <a:srgbClr val="FFB86B"/>
          </a:solidFill>
          <a:ln w="12700">
            <a:solidFill>
              <a:srgbClr val="FFB86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43584" y="4864608"/>
            <a:ext cx="4361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View, search and filter orders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528816" y="3145536"/>
            <a:ext cx="96012" cy="96012"/>
          </a:xfrm>
          <a:prstGeom prst="roundRect">
            <a:avLst>
              <a:gd name="adj" fmla="val 47619"/>
            </a:avLst>
          </a:prstGeom>
          <a:solidFill>
            <a:srgbClr val="15A89D"/>
          </a:solidFill>
          <a:ln w="12700">
            <a:solidFill>
              <a:srgbClr val="15A89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57416" y="3054096"/>
            <a:ext cx="4361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order statuses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6528816" y="3749040"/>
            <a:ext cx="96012" cy="96012"/>
          </a:xfrm>
          <a:prstGeom prst="roundRect">
            <a:avLst>
              <a:gd name="adj" fmla="val 47619"/>
            </a:avLst>
          </a:prstGeom>
          <a:solidFill>
            <a:srgbClr val="15A89D"/>
          </a:solidFill>
          <a:ln w="12700">
            <a:solidFill>
              <a:srgbClr val="15A89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3657600"/>
            <a:ext cx="4361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ratings and feedback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6528816" y="4352544"/>
            <a:ext cx="96012" cy="96012"/>
          </a:xfrm>
          <a:prstGeom prst="roundRect">
            <a:avLst>
              <a:gd name="adj" fmla="val 47619"/>
            </a:avLst>
          </a:prstGeom>
          <a:solidFill>
            <a:srgbClr val="15A89D"/>
          </a:solidFill>
          <a:ln w="12700">
            <a:solidFill>
              <a:srgbClr val="15A89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57416" y="4261104"/>
            <a:ext cx="4361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customer notifications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6528816" y="4956048"/>
            <a:ext cx="96012" cy="96012"/>
          </a:xfrm>
          <a:prstGeom prst="roundRect">
            <a:avLst>
              <a:gd name="adj" fmla="val 47619"/>
            </a:avLst>
          </a:prstGeom>
          <a:solidFill>
            <a:srgbClr val="15A89D"/>
          </a:solidFill>
          <a:ln w="12700">
            <a:solidFill>
              <a:srgbClr val="15A89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57416" y="4864608"/>
            <a:ext cx="4361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sales and product analytics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5661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A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STRETCH YOUR TECHNICAL SKILLS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meaningful advanced integration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36776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 technology that solves a genuine application problem.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" cy="914400"/>
          </a:xfrm>
          <a:prstGeom prst="line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640080" y="6583680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CTEC3703  •  SMART CAFÉ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9960" y="6565392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2221992"/>
            <a:ext cx="5257800" cy="1335024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2450592"/>
            <a:ext cx="1005840" cy="457200"/>
          </a:xfrm>
          <a:prstGeom prst="roundRect">
            <a:avLst>
              <a:gd name="adj" fmla="val 22000"/>
            </a:avLst>
          </a:prstGeom>
          <a:solidFill>
            <a:srgbClr val="E7F7F5"/>
          </a:solidFill>
          <a:ln w="12700">
            <a:solidFill>
              <a:srgbClr val="E7F7F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569464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5A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48840" y="257860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data or service integration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54496" y="2221992"/>
            <a:ext cx="5257800" cy="1335024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64808" y="2450592"/>
            <a:ext cx="1005840" cy="457200"/>
          </a:xfrm>
          <a:prstGeom prst="roundRect">
            <a:avLst>
              <a:gd name="adj" fmla="val 22000"/>
            </a:avLst>
          </a:prstGeom>
          <a:solidFill>
            <a:srgbClr val="E9F0FF"/>
          </a:solidFill>
          <a:ln w="12700">
            <a:solidFill>
              <a:srgbClr val="E9F0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47104" y="2569464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28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ML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71816" y="257860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 or feedback analysis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1520" y="3794760"/>
            <a:ext cx="5257800" cy="1335024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" y="4023360"/>
            <a:ext cx="1005840" cy="457200"/>
          </a:xfrm>
          <a:prstGeom prst="roundRect">
            <a:avLst>
              <a:gd name="adj" fmla="val 22000"/>
            </a:avLst>
          </a:prstGeom>
          <a:solidFill>
            <a:srgbClr val="E7F7F5"/>
          </a:solidFill>
          <a:ln w="12700">
            <a:solidFill>
              <a:srgbClr val="E7F7F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4142232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5A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48840" y="415137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Trends, revenue and customer behaviour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254496" y="3794760"/>
            <a:ext cx="5257800" cy="1335024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64808" y="4023360"/>
            <a:ext cx="1005840" cy="457200"/>
          </a:xfrm>
          <a:prstGeom prst="roundRect">
            <a:avLst>
              <a:gd name="adj" fmla="val 22000"/>
            </a:avLst>
          </a:prstGeom>
          <a:solidFill>
            <a:srgbClr val="E7F7F5"/>
          </a:solidFill>
          <a:ln w="12700">
            <a:solidFill>
              <a:srgbClr val="E7F7F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47104" y="4142232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5A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671816" y="415137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Storage, messaging or notifications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2423160" y="5724144"/>
            <a:ext cx="7498080" cy="374904"/>
          </a:xfrm>
          <a:prstGeom prst="roundRect">
            <a:avLst>
              <a:gd name="adj" fmla="val 43902"/>
            </a:avLst>
          </a:prstGeom>
          <a:solidFill>
            <a:srgbClr val="E8EEF8"/>
          </a:solidFill>
          <a:ln w="12700">
            <a:solidFill>
              <a:srgbClr val="E8EEF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42032" y="5801868"/>
            <a:ext cx="7269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+ testing + justification matter more than an “AI” label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576072"/>
            <a:ext cx="3474720" cy="374904"/>
          </a:xfrm>
          <a:prstGeom prst="roundRect">
            <a:avLst>
              <a:gd name="adj" fmla="val 43902"/>
            </a:avLst>
          </a:prstGeom>
          <a:solidFill>
            <a:srgbClr val="344461"/>
          </a:solidFill>
          <a:ln w="12700">
            <a:solidFill>
              <a:srgbClr val="3444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" y="65379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B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MANDATORY TECHNICAL CONDITION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4944" y="1508760"/>
            <a:ext cx="10744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KOTLIN IS REQUIRED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713232" y="2816352"/>
            <a:ext cx="10698480" cy="1554480"/>
          </a:xfrm>
          <a:prstGeom prst="roundRect">
            <a:avLst>
              <a:gd name="adj" fmla="val 11765"/>
            </a:avLst>
          </a:prstGeom>
          <a:solidFill>
            <a:srgbClr val="1E3551"/>
          </a:solidFill>
          <a:ln w="12700">
            <a:solidFill>
              <a:srgbClr val="1E355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3154680"/>
            <a:ext cx="10012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submission developed in a different programming language receives 0% for the Programming Coursework.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04672" y="47731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D4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Studio  •  Kotlin  •  Jetpack Compose OR XML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4672" y="560527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DC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and justify your architecture. Apply security, validation, database design and testing.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5661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A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DELIVERY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every week — not at the deadline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36776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lab provides an opportunity to show working software to your client.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" cy="914400"/>
          </a:xfrm>
          <a:prstGeom prst="line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640080" y="6583680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CTEC3703  •  SMART CAFÉ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9960" y="6565392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2404872"/>
            <a:ext cx="2660904" cy="3063240"/>
          </a:xfrm>
          <a:prstGeom prst="roundRect">
            <a:avLst>
              <a:gd name="adj" fmla="val 5498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615184"/>
            <a:ext cx="493776" cy="493776"/>
          </a:xfrm>
          <a:prstGeom prst="roundRect">
            <a:avLst>
              <a:gd name="adj" fmla="val 29630"/>
            </a:avLst>
          </a:prstGeom>
          <a:solidFill>
            <a:srgbClr val="25D4C4"/>
          </a:solidFill>
          <a:ln w="12700">
            <a:solidFill>
              <a:srgbClr val="25D4C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72034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3255264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 OCT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0120" y="3931920"/>
            <a:ext cx="22402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Requirements, PRD, backlog, setup and first commits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39312" y="2404872"/>
            <a:ext cx="2660904" cy="3063240"/>
          </a:xfrm>
          <a:prstGeom prst="roundRect">
            <a:avLst>
              <a:gd name="adj" fmla="val 5498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22192" y="2615184"/>
            <a:ext cx="493776" cy="493776"/>
          </a:xfrm>
          <a:prstGeom prst="roundRect">
            <a:avLst>
              <a:gd name="adj" fmla="val 29630"/>
            </a:avLst>
          </a:prstGeom>
          <a:solidFill>
            <a:srgbClr val="25D4C4"/>
          </a:solidFill>
          <a:ln w="12700">
            <a:solidFill>
              <a:srgbClr val="25D4C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22192" y="272034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22192" y="3255264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NOV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22192" y="3931920"/>
            <a:ext cx="22402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features, database and client review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01384" y="2404872"/>
            <a:ext cx="2660904" cy="3063240"/>
          </a:xfrm>
          <a:prstGeom prst="roundRect">
            <a:avLst>
              <a:gd name="adj" fmla="val 5498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84264" y="2615184"/>
            <a:ext cx="493776" cy="493776"/>
          </a:xfrm>
          <a:prstGeom prst="roundRect">
            <a:avLst>
              <a:gd name="adj" fmla="val 29630"/>
            </a:avLst>
          </a:prstGeom>
          <a:solidFill>
            <a:srgbClr val="25D4C4"/>
          </a:solidFill>
          <a:ln w="12700">
            <a:solidFill>
              <a:srgbClr val="25D4C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272034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84264" y="3255264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NOV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684264" y="3931920"/>
            <a:ext cx="22402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integration, tests, refinement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363456" y="2404872"/>
            <a:ext cx="2660904" cy="3063240"/>
          </a:xfrm>
          <a:prstGeom prst="roundRect">
            <a:avLst>
              <a:gd name="adj" fmla="val 5498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46336" y="2615184"/>
            <a:ext cx="493776" cy="493776"/>
          </a:xfrm>
          <a:prstGeom prst="roundRect">
            <a:avLst>
              <a:gd name="adj" fmla="val 29630"/>
            </a:avLst>
          </a:prstGeom>
          <a:solidFill>
            <a:srgbClr val="FFB86B"/>
          </a:solidFill>
          <a:ln w="12700">
            <a:solidFill>
              <a:srgbClr val="FFB86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46336" y="272034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546336" y="3255264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NOV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46336" y="3931920"/>
            <a:ext cx="22402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submission + individual demonstration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993392" y="5852160"/>
            <a:ext cx="8183880" cy="374904"/>
          </a:xfrm>
          <a:prstGeom prst="roundRect">
            <a:avLst>
              <a:gd name="adj" fmla="val 43902"/>
            </a:avLst>
          </a:prstGeom>
          <a:solidFill>
            <a:srgbClr val="E7F7F5"/>
          </a:solidFill>
          <a:ln w="12700">
            <a:solidFill>
              <a:srgbClr val="E7F7F5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12264" y="592988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5A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progress → obtain feedback → record change → implement → push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5661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A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THE CLIENT RELATIONSHIP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lab tutor is the stakeholder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36776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projects change. You are expected to handle change professionally.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" cy="914400"/>
          </a:xfrm>
          <a:prstGeom prst="line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640080" y="6583680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CTEC3703  •  SMART CAFÉ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9960" y="6565392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2075688" cy="1188720"/>
          </a:xfrm>
          <a:prstGeom prst="roundRect">
            <a:avLst>
              <a:gd name="adj" fmla="val 11538"/>
            </a:avLst>
          </a:prstGeom>
          <a:solidFill>
            <a:srgbClr val="E8F8F5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83464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52344" y="2798064"/>
            <a:ext cx="256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5A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2980944" y="2423160"/>
            <a:ext cx="2075688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0672" y="283464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93208" y="2798064"/>
            <a:ext cx="256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5A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321808" y="2423160"/>
            <a:ext cx="2075688" cy="1188720"/>
          </a:xfrm>
          <a:prstGeom prst="roundRect">
            <a:avLst>
              <a:gd name="adj" fmla="val 11538"/>
            </a:avLst>
          </a:prstGeom>
          <a:solidFill>
            <a:srgbClr val="E8F8F5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31536" y="283464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34072" y="2798064"/>
            <a:ext cx="256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5A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7662672" y="2423160"/>
            <a:ext cx="2075688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283464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774936" y="2798064"/>
            <a:ext cx="256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5A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10003536" y="2423160"/>
            <a:ext cx="2075688" cy="1188720"/>
          </a:xfrm>
          <a:prstGeom prst="roundRect">
            <a:avLst>
              <a:gd name="adj" fmla="val 11538"/>
            </a:avLst>
          </a:prstGeom>
          <a:solidFill>
            <a:srgbClr val="E8F8F5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13264" y="283464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" y="4206240"/>
            <a:ext cx="10698480" cy="1216152"/>
          </a:xfrm>
          <a:prstGeom prst="roundRect">
            <a:avLst>
              <a:gd name="adj" fmla="val 13534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4498848"/>
            <a:ext cx="101041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meeting date, demonstrated features, requested changes, priority, actions and outcome.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051560" y="5715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genuine client-meeting records. Do not invent feedback.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5661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A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EVIDENCE OF PROGRESS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is part of your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36776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repository should show how the project evolved — not just the final result.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" cy="914400"/>
          </a:xfrm>
          <a:prstGeom prst="line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640080" y="6583680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CTEC3703  •  SMART CAFÉ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9960" y="6565392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3232" y="2286000"/>
            <a:ext cx="5212080" cy="3429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286000"/>
            <a:ext cx="68580" cy="3429000"/>
          </a:xfrm>
          <a:prstGeom prst="rect">
            <a:avLst/>
          </a:prstGeom>
          <a:solidFill>
            <a:srgbClr val="15A89D"/>
          </a:solidFill>
          <a:ln w="12700">
            <a:solidFill>
              <a:srgbClr val="15A89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96312"/>
            <a:ext cx="4718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CONTROL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0120" y="3063240"/>
            <a:ext cx="4718304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and push regularly. Write useful commit messages. Use branches and pull requests where appropriate.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99632" y="2286000"/>
            <a:ext cx="5212080" cy="3429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9632" y="2286000"/>
            <a:ext cx="68580" cy="342900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496312"/>
            <a:ext cx="4718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TRACEABLE CHANGE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46520" y="3063240"/>
            <a:ext cx="4718304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 backlog, CLIENT_MEETINGS.md and CHANGELOG.md / GitHub Issues. Link changes to code commits.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75888" y="5943600"/>
            <a:ext cx="4791456" cy="374904"/>
          </a:xfrm>
          <a:prstGeom prst="roundRect">
            <a:avLst>
              <a:gd name="adj" fmla="val 43902"/>
            </a:avLst>
          </a:prstGeom>
          <a:solidFill>
            <a:srgbClr val="FDEAEA"/>
          </a:solidFill>
          <a:ln w="12700">
            <a:solidFill>
              <a:srgbClr val="FDEAE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6021324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C44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commit secrets, passwords or API keys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5661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A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USE GENAI RESPONSIBLY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assistance must be declared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36776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are responsible for understanding and verifying everything you submit.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" cy="914400"/>
          </a:xfrm>
          <a:prstGeom prst="line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640080" y="6583680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CTEC3703  •  SMART CAFÉ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9960" y="6565392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3232" y="2185416"/>
            <a:ext cx="5221224" cy="3438144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185416"/>
            <a:ext cx="68580" cy="3438144"/>
          </a:xfrm>
          <a:prstGeom prst="rect">
            <a:avLst/>
          </a:prstGeom>
          <a:solidFill>
            <a:srgbClr val="15A89D"/>
          </a:solidFill>
          <a:ln w="12700">
            <a:solidFill>
              <a:srgbClr val="15A89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395728"/>
            <a:ext cx="4727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PERMITTED SUPPORT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0120" y="2962656"/>
            <a:ext cx="4727448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Explaining concepts • debugging assistance • investigating APIs • test ideas • reviewing code suggestions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08776" y="2185416"/>
            <a:ext cx="5221224" cy="3438144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08776" y="2185416"/>
            <a:ext cx="68580" cy="3438144"/>
          </a:xfrm>
          <a:prstGeom prst="rect">
            <a:avLst/>
          </a:prstGeom>
          <a:solidFill>
            <a:srgbClr val="FFB86B"/>
          </a:solidFill>
          <a:ln w="12700">
            <a:solidFill>
              <a:srgbClr val="FFB86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664" y="2395728"/>
            <a:ext cx="4727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DECLARATION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55664" y="2962656"/>
            <a:ext cx="4727448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the tool, what it was used for, relevant prompts or outputs, and how you reviewed and tested its contribution.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58704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69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submit an AI-produced complete solution as your own work.</a:t>
            </a:r>
            <a:endParaRPr lang="en-US" sz="1500" dirty="0"/>
          </a:p>
        </p:txBody>
      </p:sp>
      <p:sp>
        <p:nvSpPr>
          <p:cNvPr id="17" name="Text 15">
            <a:hlinkClick r:id="rId1" tooltip=""/>
          </p:cNvPr>
          <p:cNvSpPr/>
          <p:nvPr/>
        </p:nvSpPr>
        <p:spPr>
          <a:xfrm>
            <a:off x="777240" y="6245352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u="sng" dirty="0">
                <a:solidFill>
                  <a:srgbClr val="15A89D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DMU guidance: library.dmu.ac.uk/genai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5661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A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SUBMIT YOUR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be ready by 16 November?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36776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student must be able to explain and defend their own work.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" cy="914400"/>
          </a:xfrm>
          <a:prstGeom prst="line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640080" y="6583680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CTEC3703  •  SMART CAFÉ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9960" y="6565392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2395728"/>
            <a:ext cx="96012" cy="96012"/>
          </a:xfrm>
          <a:prstGeom prst="roundRect">
            <a:avLst>
              <a:gd name="adj" fmla="val 47619"/>
            </a:avLst>
          </a:prstGeom>
          <a:solidFill>
            <a:srgbClr val="15A89D"/>
          </a:solidFill>
          <a:ln w="12700">
            <a:solidFill>
              <a:srgbClr val="15A89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304288"/>
            <a:ext cx="4782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Android Studio application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3145536"/>
            <a:ext cx="96012" cy="96012"/>
          </a:xfrm>
          <a:prstGeom prst="roundRect">
            <a:avLst>
              <a:gd name="adj" fmla="val 47619"/>
            </a:avLst>
          </a:prstGeom>
          <a:solidFill>
            <a:srgbClr val="15A89D"/>
          </a:solidFill>
          <a:ln w="12700">
            <a:solidFill>
              <a:srgbClr val="15A89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054096"/>
            <a:ext cx="4782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repository and commit history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68680" y="3895344"/>
            <a:ext cx="96012" cy="96012"/>
          </a:xfrm>
          <a:prstGeom prst="roundRect">
            <a:avLst>
              <a:gd name="adj" fmla="val 47619"/>
            </a:avLst>
          </a:prstGeom>
          <a:solidFill>
            <a:srgbClr val="15A89D"/>
          </a:solidFill>
          <a:ln w="12700">
            <a:solidFill>
              <a:srgbClr val="15A89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803904"/>
            <a:ext cx="4782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 technical report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68680" y="4645152"/>
            <a:ext cx="96012" cy="96012"/>
          </a:xfrm>
          <a:prstGeom prst="roundRect">
            <a:avLst>
              <a:gd name="adj" fmla="val 47619"/>
            </a:avLst>
          </a:prstGeom>
          <a:solidFill>
            <a:srgbClr val="15A89D"/>
          </a:solidFill>
          <a:ln w="12700">
            <a:solidFill>
              <a:srgbClr val="15A89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553712"/>
            <a:ext cx="4782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Requirements, design and architecture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91072" y="2395728"/>
            <a:ext cx="96012" cy="96012"/>
          </a:xfrm>
          <a:prstGeom prst="roundRect">
            <a:avLst>
              <a:gd name="adj" fmla="val 47619"/>
            </a:avLst>
          </a:prstGeom>
          <a:solidFill>
            <a:srgbClr val="4285F4"/>
          </a:solidFill>
          <a:ln w="12700">
            <a:solidFill>
              <a:srgbClr val="4285F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2304288"/>
            <a:ext cx="4800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Backlog, client meetings and change log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91072" y="3145536"/>
            <a:ext cx="96012" cy="96012"/>
          </a:xfrm>
          <a:prstGeom prst="roundRect">
            <a:avLst>
              <a:gd name="adj" fmla="val 47619"/>
            </a:avLst>
          </a:prstGeom>
          <a:solidFill>
            <a:srgbClr val="4285F4"/>
          </a:solidFill>
          <a:ln w="12700">
            <a:solidFill>
              <a:srgbClr val="4285F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9672" y="3054096"/>
            <a:ext cx="4800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cases and results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91072" y="3895344"/>
            <a:ext cx="96012" cy="96012"/>
          </a:xfrm>
          <a:prstGeom prst="roundRect">
            <a:avLst>
              <a:gd name="adj" fmla="val 47619"/>
            </a:avLst>
          </a:prstGeom>
          <a:solidFill>
            <a:srgbClr val="4285F4"/>
          </a:solidFill>
          <a:ln w="12700">
            <a:solidFill>
              <a:srgbClr val="4285F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9672" y="3803904"/>
            <a:ext cx="4800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 declaration (even if none used)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291072" y="4645152"/>
            <a:ext cx="96012" cy="96012"/>
          </a:xfrm>
          <a:prstGeom prst="roundRect">
            <a:avLst>
              <a:gd name="adj" fmla="val 47619"/>
            </a:avLst>
          </a:prstGeom>
          <a:solidFill>
            <a:srgbClr val="4285F4"/>
          </a:solidFill>
          <a:ln w="12700">
            <a:solidFill>
              <a:srgbClr val="4285F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4553712"/>
            <a:ext cx="4800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integration evidence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22960" y="5669280"/>
            <a:ext cx="10515600" cy="438912"/>
          </a:xfrm>
          <a:prstGeom prst="roundRect">
            <a:avLst>
              <a:gd name="adj" fmla="val 27083"/>
            </a:avLst>
          </a:prstGeom>
          <a:solidFill>
            <a:srgbClr val="E4F5F2"/>
          </a:solidFill>
          <a:ln w="12700">
            <a:solidFill>
              <a:srgbClr val="E4F5F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5769864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A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project?  Identify each student’s contribution clearly.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5661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A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HOW MARKS ARE EARNED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 criteria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36776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academic standards apply to both delivery pathways.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" cy="914400"/>
          </a:xfrm>
          <a:prstGeom prst="line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640080" y="6583680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CTEC3703  •  SMART CAFÉ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9960" y="6565392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" y="20939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implementation &amp; workflows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44768" y="2153412"/>
            <a:ext cx="4462272" cy="173736"/>
          </a:xfrm>
          <a:prstGeom prst="roundRect">
            <a:avLst>
              <a:gd name="adj" fmla="val 47368"/>
            </a:avLst>
          </a:prstGeom>
          <a:solidFill>
            <a:srgbClr val="E4EAF0"/>
          </a:solidFill>
          <a:ln w="12700">
            <a:solidFill>
              <a:srgbClr val="E4EAF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44768" y="2153412"/>
            <a:ext cx="4462272" cy="173736"/>
          </a:xfrm>
          <a:prstGeom prst="roundRect">
            <a:avLst>
              <a:gd name="adj" fmla="val 47368"/>
            </a:avLst>
          </a:prstGeom>
          <a:solidFill>
            <a:srgbClr val="15A89D"/>
          </a:solidFill>
          <a:ln w="12700">
            <a:solidFill>
              <a:srgbClr val="15A89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72216" y="209397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0392" y="26791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Design, requirements &amp; architecture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44768" y="2738628"/>
            <a:ext cx="4462272" cy="173736"/>
          </a:xfrm>
          <a:prstGeom prst="roundRect">
            <a:avLst>
              <a:gd name="adj" fmla="val 47368"/>
            </a:avLst>
          </a:prstGeom>
          <a:solidFill>
            <a:srgbClr val="E4EAF0"/>
          </a:solidFill>
          <a:ln w="12700">
            <a:solidFill>
              <a:srgbClr val="E4EAF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44768" y="2738628"/>
            <a:ext cx="2231136" cy="173736"/>
          </a:xfrm>
          <a:prstGeom prst="roundRect">
            <a:avLst>
              <a:gd name="adj" fmla="val 47368"/>
            </a:avLst>
          </a:prstGeom>
          <a:solidFill>
            <a:srgbClr val="4285F4"/>
          </a:solidFill>
          <a:ln w="12700">
            <a:solidFill>
              <a:srgbClr val="4285F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872216" y="26791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0392" y="32644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Database, security &amp; data handling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44768" y="3323844"/>
            <a:ext cx="4462272" cy="173736"/>
          </a:xfrm>
          <a:prstGeom prst="roundRect">
            <a:avLst>
              <a:gd name="adj" fmla="val 47368"/>
            </a:avLst>
          </a:prstGeom>
          <a:solidFill>
            <a:srgbClr val="E4EAF0"/>
          </a:solidFill>
          <a:ln w="12700">
            <a:solidFill>
              <a:srgbClr val="E4EAF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3323844"/>
            <a:ext cx="2231136" cy="173736"/>
          </a:xfrm>
          <a:prstGeom prst="roundRect">
            <a:avLst>
              <a:gd name="adj" fmla="val 47368"/>
            </a:avLst>
          </a:prstGeom>
          <a:solidFill>
            <a:srgbClr val="4285F4"/>
          </a:solidFill>
          <a:ln w="12700">
            <a:solidFill>
              <a:srgbClr val="4285F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872216" y="32644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0392" y="384962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technology integration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44768" y="3909060"/>
            <a:ext cx="4462272" cy="173736"/>
          </a:xfrm>
          <a:prstGeom prst="roundRect">
            <a:avLst>
              <a:gd name="adj" fmla="val 47368"/>
            </a:avLst>
          </a:prstGeom>
          <a:solidFill>
            <a:srgbClr val="E4EAF0"/>
          </a:solidFill>
          <a:ln w="12700">
            <a:solidFill>
              <a:srgbClr val="E4EA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44768" y="3909060"/>
            <a:ext cx="2231136" cy="173736"/>
          </a:xfrm>
          <a:prstGeom prst="roundRect">
            <a:avLst>
              <a:gd name="adj" fmla="val 47368"/>
            </a:avLst>
          </a:prstGeom>
          <a:solidFill>
            <a:srgbClr val="4285F4"/>
          </a:solidFill>
          <a:ln w="12700">
            <a:solidFill>
              <a:srgbClr val="4285F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872216" y="38496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50392" y="4434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Testing, robustness &amp; evaluation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144768" y="4494276"/>
            <a:ext cx="4462272" cy="173736"/>
          </a:xfrm>
          <a:prstGeom prst="roundRect">
            <a:avLst>
              <a:gd name="adj" fmla="val 47368"/>
            </a:avLst>
          </a:prstGeom>
          <a:solidFill>
            <a:srgbClr val="E4EAF0"/>
          </a:solidFill>
          <a:ln w="12700">
            <a:solidFill>
              <a:srgbClr val="E4EAF0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44768" y="4494276"/>
            <a:ext cx="2231136" cy="173736"/>
          </a:xfrm>
          <a:prstGeom prst="roundRect">
            <a:avLst>
              <a:gd name="adj" fmla="val 47368"/>
            </a:avLst>
          </a:prstGeom>
          <a:solidFill>
            <a:srgbClr val="4285F4"/>
          </a:solidFill>
          <a:ln w="12700">
            <a:solidFill>
              <a:srgbClr val="4285F4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872216" y="44348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50392" y="502005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 demonstration &amp; understanding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144768" y="5079492"/>
            <a:ext cx="4462272" cy="173736"/>
          </a:xfrm>
          <a:prstGeom prst="roundRect">
            <a:avLst>
              <a:gd name="adj" fmla="val 47368"/>
            </a:avLst>
          </a:prstGeom>
          <a:solidFill>
            <a:srgbClr val="E4EAF0"/>
          </a:solidFill>
          <a:ln w="12700">
            <a:solidFill>
              <a:srgbClr val="E4EAF0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44768" y="5079492"/>
            <a:ext cx="1487424" cy="173736"/>
          </a:xfrm>
          <a:prstGeom prst="roundRect">
            <a:avLst>
              <a:gd name="adj" fmla="val 47368"/>
            </a:avLst>
          </a:prstGeom>
          <a:solidFill>
            <a:srgbClr val="4285F4"/>
          </a:solidFill>
          <a:ln w="12700">
            <a:solidFill>
              <a:srgbClr val="4285F4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872216" y="50200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68680" y="602589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practice and GitHub/change evidence inform relevant criteria.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5661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A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THE INDIVIDUAL VIVA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Demonstrate. Explain. Justify.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36776"/>
            <a:ext cx="10927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in a pair does not remove your individual accountability.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" cy="914400"/>
          </a:xfrm>
          <a:prstGeom prst="line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640080" y="6583680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CTEC3703  •  SMART CAFÉ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9960" y="6565392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22376" y="2267712"/>
            <a:ext cx="3447288" cy="3520440"/>
          </a:xfrm>
          <a:prstGeom prst="roundRect">
            <a:avLst>
              <a:gd name="adj" fmla="val 4244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" y="2267712"/>
            <a:ext cx="68580" cy="3520440"/>
          </a:xfrm>
          <a:prstGeom prst="rect">
            <a:avLst/>
          </a:prstGeom>
          <a:solidFill>
            <a:srgbClr val="15A89D"/>
          </a:solidFill>
          <a:ln w="12700">
            <a:solidFill>
              <a:srgbClr val="15A89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2478024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IT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9264" y="3044952"/>
            <a:ext cx="2953512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core workflows, database operations, status updates and the advanced feature.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1688" y="2267712"/>
            <a:ext cx="3447288" cy="3520440"/>
          </a:xfrm>
          <a:prstGeom prst="roundRect">
            <a:avLst>
              <a:gd name="adj" fmla="val 4244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1688" y="2267712"/>
            <a:ext cx="68580" cy="352044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8576" y="2478024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IT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08576" y="3044952"/>
            <a:ext cx="2953512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Defend architecture, code, data handling, security and testing choices.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10144" y="2267712"/>
            <a:ext cx="3447288" cy="3520440"/>
          </a:xfrm>
          <a:prstGeom prst="roundRect">
            <a:avLst>
              <a:gd name="adj" fmla="val 4244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10144" y="2267712"/>
            <a:ext cx="68580" cy="3520440"/>
          </a:xfrm>
          <a:prstGeom prst="rect">
            <a:avLst/>
          </a:prstGeom>
          <a:solidFill>
            <a:srgbClr val="FFB86B"/>
          </a:solidFill>
          <a:ln w="12700">
            <a:solidFill>
              <a:srgbClr val="FFB86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2478024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IT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257032" y="3044952"/>
            <a:ext cx="2953512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 GitHub commits, stakeholder changes, AI use and your own contribution.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731520"/>
            <a:ext cx="128016" cy="5440680"/>
          </a:xfrm>
          <a:prstGeom prst="rect">
            <a:avLst/>
          </a:prstGeom>
          <a:solidFill>
            <a:srgbClr val="25D4C4"/>
          </a:solidFill>
          <a:ln w="12700">
            <a:solidFill>
              <a:srgbClr val="25D4C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1051560"/>
            <a:ext cx="9966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LIKE A</a:t>
            </a:r>
            <a:endParaRPr lang="en-US" sz="4700" dirty="0"/>
          </a:p>
          <a:p>
            <a:pPr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ENGINEER.</a:t>
            </a:r>
            <a:endParaRPr lang="en-US" sz="4700" dirty="0"/>
          </a:p>
        </p:txBody>
      </p:sp>
      <p:sp>
        <p:nvSpPr>
          <p:cNvPr id="4" name="Text 2"/>
          <p:cNvSpPr/>
          <p:nvPr/>
        </p:nvSpPr>
        <p:spPr>
          <a:xfrm>
            <a:off x="1170432" y="376732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5D4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→ Build → Test → Show → Improve → Document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70432" y="508406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9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submission &amp; demonstration  •  Monday 16 November 2026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70432" y="6044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EB3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CTEC3703  |  Smart Café Coursework  |  50%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CTEC3703 Smart Café Coursework Brief</dc:title>
  <dc:subject>Smart Café Coursework Brief</dc:subject>
  <dc:creator>CTEC3703</dc:creator>
  <cp:lastModifiedBy>CTEC3703</cp:lastModifiedBy>
  <cp:revision>1</cp:revision>
  <dcterms:created xsi:type="dcterms:W3CDTF">2026-10-28T09:44:32Z</dcterms:created>
  <dcterms:modified xsi:type="dcterms:W3CDTF">2026-10-28T09:44:32Z</dcterms:modified>
</cp:coreProperties>
</file>